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Stream (₹ Lakhs)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 Commission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180</c:v>
                </c:pt>
                <c:pt idx="2">
                  <c:v>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 Subscriptions</c:v>
                </c:pt>
              </c:strCache>
            </c:strRef>
          </c:tx>
          <c:spPr>
            <a:solidFill>
              <a:srgbClr val="1B4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80</c:v>
                </c:pt>
                <c:pt idx="2">
                  <c:v>400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Vendor SaaS</c:v>
                </c:pt>
              </c:strCache>
            </c:strRef>
          </c:tx>
          <c:spPr>
            <a:solidFill>
              <a:srgbClr val="F4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</c:v>
                </c:pt>
                <c:pt idx="1">
                  <c:v>150</c:v>
                </c:pt>
                <c:pt idx="2">
                  <c:v>500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</c:v>
                </c:pt>
                <c:pt idx="1">
                  <c:v>40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1B4F8A"/>
              </a:solidFill>
              <a:effectLst/>
            </c:spPr>
          </c:dPt>
          <c:dPt>
            <c:idx val="2"/>
            <c:bubble3D val="0"/>
            <c:spPr>
              <a:solidFill>
                <a:srgbClr val="F4A623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Vendor Onboarding</c:v>
                </c:pt>
                <c:pt idx="2">
                  <c:v>Growth &amp; Marketing</c:v>
                </c:pt>
                <c:pt idx="3">
                  <c:v>Operations &amp; Legal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71526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4572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TRIP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A896"/>
                </a:solidFill>
              </a:rPr>
              <a:t>PARTY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4CC"/>
                </a:solidFill>
              </a:rPr>
              <a:t>Where social media meets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A0B4CC"/>
                </a:solidFill>
              </a:rPr>
              <a:t>travel execution.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035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</a:rPr>
              <a:t>SERIES A FUNDRAISE  · 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0972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$1.2T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852160" y="1755648"/>
            <a:ext cx="128016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847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Global Travel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3317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18–35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5852160" y="2990088"/>
            <a:ext cx="128016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30815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Primary Demographic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35661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15–30%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5852160" y="4224528"/>
            <a:ext cx="128016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43159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OTA Commission We Undercut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48006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5–8%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5852160" y="5458968"/>
            <a:ext cx="128016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55504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Our Commission Target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Travelers use 7 apps to do what one should.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Every context switch costs friction, money, and memories lost.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56616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54864" cy="804672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Instagram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9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Inspiration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56616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508760"/>
            <a:ext cx="54864" cy="804672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WhatsApp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Group Chat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356616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514600"/>
            <a:ext cx="54864" cy="80467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Google Maps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35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Navigation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514600"/>
            <a:ext cx="356616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2514600"/>
            <a:ext cx="54864" cy="804672"/>
          </a:xfrm>
          <a:prstGeom prst="rect">
            <a:avLst/>
          </a:prstGeom>
          <a:solidFill>
            <a:srgbClr val="E22D2D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606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MakeMyTrip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935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Booking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356616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20440"/>
            <a:ext cx="54864" cy="804672"/>
          </a:xfrm>
          <a:prstGeom prst="rect">
            <a:avLst/>
          </a:prstGeom>
          <a:solidFill>
            <a:srgbClr val="1CC29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Splitwise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941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Expenses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3520440"/>
            <a:ext cx="356616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520440"/>
            <a:ext cx="54864" cy="804672"/>
          </a:xfrm>
          <a:prstGeom prst="rect">
            <a:avLst/>
          </a:prstGeom>
          <a:solidFill>
            <a:srgbClr val="00AF87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TripAdvisor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941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Reviews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526280"/>
            <a:ext cx="356616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526280"/>
            <a:ext cx="54864" cy="804672"/>
          </a:xfrm>
          <a:prstGeom prst="rect">
            <a:avLst/>
          </a:prstGeom>
          <a:solidFill>
            <a:srgbClr val="00358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617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Booking.com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49469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Hotels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77640" y="1828800"/>
            <a:ext cx="320040" cy="3474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0" y="32004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APPS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12480" y="1280160"/>
            <a:ext cx="3383280" cy="502920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9536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The Real Cost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9536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15–30%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5953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OTA markup on every booking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2862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₹3,200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59536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avg. overpaid per trip on hotels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95360" y="3666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2.3 hrs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595360" y="4005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avg. planning time wasted in DMs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95360" y="44714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47%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595360" y="4809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group trips abandoned at planning stage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95360" y="5276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595360" y="5614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local vendors discovered organically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continuous loop.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CC"/>
                </a:solidFill>
              </a:rPr>
              <a:t>Trip Party replaces every fragmented tool with a single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2084832" cy="448056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00200"/>
            <a:ext cx="2084832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" y="1965960"/>
            <a:ext cx="731520" cy="731520"/>
          </a:xfrm>
          <a:prstGeom prst="oval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1031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803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DISCOVER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Social feed of real traveler content. Reels, Stories, posts from friends and the world.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96312" y="2852928"/>
            <a:ext cx="1828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2569464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79192" y="1600200"/>
            <a:ext cx="2084832" cy="448056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79192" y="1600200"/>
            <a:ext cx="2084832" cy="54864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5" name="Shape 12"/>
          <p:cNvSpPr/>
          <p:nvPr/>
        </p:nvSpPr>
        <p:spPr>
          <a:xfrm>
            <a:off x="3355848" y="1965960"/>
            <a:ext cx="731520" cy="731520"/>
          </a:xfrm>
          <a:prstGeom prst="oval">
            <a:avLst/>
          </a:prstGeom>
          <a:solidFill>
            <a:srgbClr val="1B4F8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1031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79192" y="28803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PLAN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816352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Collaborative Trip Hub. AI itinerary, group chat, budget board, packing list.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64024" y="2852928"/>
            <a:ext cx="1828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4837176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›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946904" y="1600200"/>
            <a:ext cx="2084832" cy="448056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46904" y="1600200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19"/>
          <p:cNvSpPr/>
          <p:nvPr/>
        </p:nvSpPr>
        <p:spPr>
          <a:xfrm>
            <a:off x="5623560" y="1965960"/>
            <a:ext cx="731520" cy="731520"/>
          </a:xfrm>
          <a:prstGeom prst="oval">
            <a:avLst/>
          </a:prstGeom>
          <a:solidFill>
            <a:srgbClr val="8B5CF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10312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28803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EXECUTE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084064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Live map, waypoint check-ins, geo-triggered local bookings — all in one view.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31736" y="2852928"/>
            <a:ext cx="1828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3"/>
          <p:cNvSpPr/>
          <p:nvPr/>
        </p:nvSpPr>
        <p:spPr>
          <a:xfrm>
            <a:off x="7104888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›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7214616" y="1600200"/>
            <a:ext cx="2084832" cy="448056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214616" y="1600200"/>
            <a:ext cx="2084832" cy="54864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31" name="Shape 26"/>
          <p:cNvSpPr/>
          <p:nvPr/>
        </p:nvSpPr>
        <p:spPr>
          <a:xfrm>
            <a:off x="7891272" y="1965960"/>
            <a:ext cx="731520" cy="731520"/>
          </a:xfrm>
          <a:prstGeom prst="oval">
            <a:avLst/>
          </a:prstGeom>
          <a:solidFill>
            <a:srgbClr val="F4A623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210312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214616" y="28803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BOOK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351776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Hyper-local vendors. 5–8% commission vs 30% OTA. Direct, cheaper, verified.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299448" y="2852928"/>
            <a:ext cx="1828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0"/>
          <p:cNvSpPr/>
          <p:nvPr/>
        </p:nvSpPr>
        <p:spPr>
          <a:xfrm>
            <a:off x="9372600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›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9482328" y="1600200"/>
            <a:ext cx="2084832" cy="448056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482328" y="1600200"/>
            <a:ext cx="208483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58984" y="1965960"/>
            <a:ext cx="731520" cy="731520"/>
          </a:xfrm>
          <a:prstGeom prst="oval">
            <a:avLst/>
          </a:prstGeom>
          <a:solidFill>
            <a:srgbClr val="10B981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210312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482328" y="28803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SHARE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9619488" y="32461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Posts auto-log to trip timeline. One-tap Memory Reel at journey's end.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4" name="Text 37"/>
          <p:cNvSpPr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Trip Party is not another travel app. It's the social network where traveling actually happens.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A trillion-dollar market with no single dominant social layer.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029200" cy="5029200"/>
          </a:xfrm>
          <a:prstGeom prst="oval">
            <a:avLst/>
          </a:prstGeom>
          <a:solidFill>
            <a:srgbClr val="EBF4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57400"/>
            <a:ext cx="3657600" cy="3657600"/>
          </a:xfrm>
          <a:prstGeom prst="oval">
            <a:avLst/>
          </a:prstGeom>
          <a:solidFill>
            <a:srgbClr val="BFDBFE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2743200"/>
            <a:ext cx="2286000" cy="2286000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A"/>
                </a:solidFill>
              </a:rPr>
              <a:t>$1.2T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Global travel market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395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8A"/>
                </a:solidFill>
              </a:rPr>
              <a:t>$48B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706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India group + social travel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$240M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9F5"/>
                </a:solidFill>
              </a:rPr>
              <a:t>Y3 serviceable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FD9F5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603504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371600"/>
            <a:ext cx="64008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463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560M+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89320" y="19385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Indian internet users (2025)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606040"/>
            <a:ext cx="603504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2606040"/>
            <a:ext cx="64008" cy="107899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697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78%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89320" y="31729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18–35 yr olds travel in groups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840480"/>
            <a:ext cx="603504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3840480"/>
            <a:ext cx="64008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3931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3.2×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89320" y="440740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growth in domestic leisure travel post-COVID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5074920"/>
            <a:ext cx="6035040" cy="10789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5074920"/>
            <a:ext cx="64008" cy="107899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5166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₹0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989320" y="56418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dominant social-travel app today — the gap is ours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Three layers. One seamless experience.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Each layer reinforces the next — social drives trips, trips drive bookings, bookings drive social content.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3657600" cy="6400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" y="1737360"/>
            <a:ext cx="658368" cy="658368"/>
          </a:xfrm>
          <a:prstGeom prst="oval">
            <a:avLst/>
          </a:prstGeom>
          <a:solidFill>
            <a:srgbClr val="1B4F8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65376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71600" y="1883664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1B4F8A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18836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6072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Social Engine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83464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392" y="27980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Algorithm feed (Instagram-grade)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47472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0392" y="34381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Short-form Reels &amp; 24h Stories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1148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392" y="40782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Direct Messaging (1-on-1 + groups)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7548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0392" y="47183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Search, hashtags, location discovery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288536" y="1508760"/>
            <a:ext cx="365760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288536" y="1508760"/>
            <a:ext cx="36576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Shape 15"/>
          <p:cNvSpPr/>
          <p:nvPr/>
        </p:nvSpPr>
        <p:spPr>
          <a:xfrm>
            <a:off x="4453128" y="1737360"/>
            <a:ext cx="658368" cy="658368"/>
          </a:xfrm>
          <a:prstGeom prst="oval">
            <a:avLst/>
          </a:prstGeom>
          <a:solidFill>
            <a:srgbClr val="00A896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1865376"/>
            <a:ext cx="402336" cy="40233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248656" y="1883664"/>
            <a:ext cx="1627632" cy="25603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25" name="Text 17"/>
          <p:cNvSpPr/>
          <p:nvPr/>
        </p:nvSpPr>
        <p:spPr>
          <a:xfrm>
            <a:off x="5248656" y="1883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2 — Core IP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4453128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Journey Engine</a:t>
            </a:r>
            <a:endParaRPr lang="en-US" sz="16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2834640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727448" y="27980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Collaborative Trip Hub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3474720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727448" y="34381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itinerary planner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3128" y="4114800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727448" y="40782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Live map + travel mode routing</a:t>
            </a:r>
            <a:endParaRPr lang="en-US" sz="11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3128" y="4754880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727448" y="47183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Shared packing list &amp; expense tracker</a:t>
            </a:r>
            <a:endParaRPr lang="en-US" sz="1100" dirty="0"/>
          </a:p>
        </p:txBody>
      </p:sp>
      <p:sp>
        <p:nvSpPr>
          <p:cNvPr id="35" name="Shape 23"/>
          <p:cNvSpPr/>
          <p:nvPr/>
        </p:nvSpPr>
        <p:spPr>
          <a:xfrm>
            <a:off x="8165592" y="1508760"/>
            <a:ext cx="365760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8165592" y="1508760"/>
            <a:ext cx="3657600" cy="6400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37" name="Shape 25"/>
          <p:cNvSpPr/>
          <p:nvPr/>
        </p:nvSpPr>
        <p:spPr>
          <a:xfrm>
            <a:off x="8330184" y="1737360"/>
            <a:ext cx="658368" cy="658368"/>
          </a:xfrm>
          <a:prstGeom prst="oval">
            <a:avLst/>
          </a:prstGeom>
          <a:solidFill>
            <a:srgbClr val="F4A623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1865376"/>
            <a:ext cx="402336" cy="402336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9125712" y="1883664"/>
            <a:ext cx="1627632" cy="256032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</p:sp>
      <p:sp>
        <p:nvSpPr>
          <p:cNvPr id="40" name="Text 27"/>
          <p:cNvSpPr/>
          <p:nvPr/>
        </p:nvSpPr>
        <p:spPr>
          <a:xfrm>
            <a:off x="9125712" y="1883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3 — Revenue</a:t>
            </a:r>
            <a:endParaRPr lang="en-US" sz="850" dirty="0"/>
          </a:p>
        </p:txBody>
      </p:sp>
      <p:sp>
        <p:nvSpPr>
          <p:cNvPr id="41" name="Text 28"/>
          <p:cNvSpPr/>
          <p:nvPr/>
        </p:nvSpPr>
        <p:spPr>
          <a:xfrm>
            <a:off x="8330184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Marketplace</a:t>
            </a:r>
            <a:endParaRPr lang="en-US" sz="16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0184" y="2834640"/>
            <a:ext cx="201168" cy="2011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604504" y="27980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Hyper-local vendor discovery</a:t>
            </a:r>
            <a:endParaRPr lang="en-US" sz="11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0184" y="3474720"/>
            <a:ext cx="201168" cy="201168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8604504" y="34381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Geo-triggered push offers</a:t>
            </a:r>
            <a:endParaRPr lang="en-US" sz="11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0184" y="4114800"/>
            <a:ext cx="201168" cy="201168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8604504" y="40782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Direct booking (5–8% commission)</a:t>
            </a:r>
            <a:endParaRPr lang="en-US" sz="11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0184" y="4754880"/>
            <a:ext cx="201168" cy="20116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8604504" y="47183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Verified review system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USER JOURNEY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inspiration to memories — never leaving the app.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54864" cy="2057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5270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07568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Priya sees her friend's Goa reel on the feed. She saves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8536" y="141732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1417320"/>
            <a:ext cx="54864" cy="20574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5270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8A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74336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 Trip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3128" y="207568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She creates a 'Goa June' trip. Invites 4 friends. AI generates a 5-day itinerary.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65592" y="141732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65592" y="1417320"/>
            <a:ext cx="54864" cy="2057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5270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51392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 Together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0184" y="207568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Group chats, votes on activities, sets a ₹8,000/person budget. Packing list assigned.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749040"/>
            <a:ext cx="54864" cy="205740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623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 Live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" y="440740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Trip starts. Map shows everyone's live location. Check-ins auto-log to timeline.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88536" y="374904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88536" y="3749040"/>
            <a:ext cx="54864" cy="2057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74336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Book Local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53128" y="440740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'You're 3km from Sunshine Shack. Special rate ₹1,800/night (vs ₹2,800 on Booking.com).' One tap to book.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65592" y="374904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65592" y="3749040"/>
            <a:ext cx="54864" cy="2057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851392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0184" y="440740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Trip ends. Auto-generated 90-sec reel with music. Shared to feed. Expenses settled via UPI.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COMPETITION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We sit at a white space no one else owns.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371600"/>
            <a:ext cx="18288" cy="5029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886200"/>
            <a:ext cx="64008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SOCIAL FEATURES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 rot="16200000">
            <a:off x="37490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TRAVEL UTILITY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LOW SOCIAL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 rot="16200000">
            <a:off x="3749040" y="6126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LOW UTILITY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49240" y="3246120"/>
            <a:ext cx="457200" cy="457200"/>
          </a:xfrm>
          <a:prstGeom prst="oval">
            <a:avLst/>
          </a:prstGeom>
          <a:solidFill>
            <a:srgbClr val="E1306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Instagram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88920" y="6446520"/>
            <a:ext cx="457200" cy="457200"/>
          </a:xfrm>
          <a:prstGeom prst="oval">
            <a:avLst/>
          </a:prstGeom>
          <a:solidFill>
            <a:srgbClr val="E2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6931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MakeMyTrip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9000" y="5897880"/>
            <a:ext cx="457200" cy="457200"/>
          </a:xfrm>
          <a:prstGeom prst="oval">
            <a:avLst/>
          </a:prstGeom>
          <a:solidFill>
            <a:srgbClr val="00AF87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6382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TripAdvisor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74520" y="5257800"/>
            <a:ext cx="457200" cy="457200"/>
          </a:xfrm>
          <a:prstGeom prst="oval">
            <a:avLst/>
          </a:prstGeom>
          <a:solidFill>
            <a:srgbClr val="1CC29F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5742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Splitwise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4069080"/>
            <a:ext cx="457200" cy="457200"/>
          </a:xfrm>
          <a:prstGeom prst="oval">
            <a:avLst/>
          </a:prstGeom>
          <a:solidFill>
            <a:srgbClr val="25D36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WhatsApp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4800600"/>
            <a:ext cx="457200" cy="457200"/>
          </a:xfrm>
          <a:prstGeom prst="oval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5285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Google Maps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2743200"/>
            <a:ext cx="822960" cy="822960"/>
          </a:xfrm>
          <a:prstGeom prst="oval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285292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611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TRIP PARTY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82880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E0FDF4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8745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⬆ This quadrant is empty.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We own it.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1371600"/>
            <a:ext cx="4572000" cy="5029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06640" y="1508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Feature Comparison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Instagram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34272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WhatsApp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30384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MMT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6496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Trip Party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Social Feed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2240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34272" y="2240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930384" y="2240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826496" y="2240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0664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Group Trip Planning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38160" y="2807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034272" y="2807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30384" y="2807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826496" y="2807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06640" y="3374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Live Map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38160" y="3374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34272" y="3374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30384" y="3374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826496" y="3374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06640" y="3941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Group Expense Split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138160" y="3941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034272" y="3941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930384" y="3941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826496" y="3941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06640" y="4507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Local Booking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138160" y="4507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034272" y="4507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930384" y="4507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826496" y="4507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06640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 Planner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138160" y="5074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034272" y="5074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930384" y="5074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0826496" y="5074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406640" y="5641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Memory Reel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138160" y="5641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034272" y="5641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930384" y="5641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✗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826496" y="5641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 revenue streams. Aligned incentives at every layer.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600200"/>
            <a:ext cx="640080" cy="640080"/>
          </a:xfrm>
          <a:prstGeom prst="oval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190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Booking Commission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5–8%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76072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per booking vs 15–30% OTA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88536" y="141732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53128" y="1600200"/>
            <a:ext cx="640080" cy="640080"/>
          </a:xfrm>
          <a:prstGeom prst="oval">
            <a:avLst/>
          </a:prstGeom>
          <a:solidFill>
            <a:srgbClr val="1B4F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71907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48656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 Subscription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53128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8A"/>
                </a:solidFill>
              </a:rPr>
              <a:t>₹299/mo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453128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unlimited AI, offline maps, no ads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65592" y="141732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0184" y="1600200"/>
            <a:ext cx="640080" cy="640080"/>
          </a:xfrm>
          <a:prstGeom prst="oval">
            <a:avLst/>
          </a:prstGeom>
          <a:solidFill>
            <a:srgbClr val="F4A62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1907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25712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Vendor SaaS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330184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623"/>
                </a:solidFill>
              </a:rPr>
              <a:t>₹999–₹4,999/mo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330184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tiered: listing → geo-trigger → analytics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11480" y="374904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6072" y="3931920"/>
            <a:ext cx="640080" cy="640080"/>
          </a:xfrm>
          <a:prstGeom prst="oval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05079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Promoted Destinations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76072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CPM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576072" y="5166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tourism boards, state govts, DMOs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88536" y="374904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53128" y="3931920"/>
            <a:ext cx="640080" cy="640080"/>
          </a:xfrm>
          <a:prstGeom prst="oval">
            <a:avLst/>
          </a:prstGeom>
          <a:solidFill>
            <a:srgbClr val="10B98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4050792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48656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Travel Insurance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453128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10–15%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4453128" y="5166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referral fee, Digit/Tata AIG partner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65592" y="3749040"/>
            <a:ext cx="365760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30184" y="3931920"/>
            <a:ext cx="640080" cy="640080"/>
          </a:xfrm>
          <a:prstGeom prst="oval">
            <a:avLst/>
          </a:prstGeom>
          <a:solidFill>
            <a:srgbClr val="F9731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050792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25712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Expense Settlement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330184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1%</a:t>
            </a:r>
            <a:endParaRPr lang="en-US" sz="2200" dirty="0"/>
          </a:p>
        </p:txBody>
      </p:sp>
      <p:sp>
        <p:nvSpPr>
          <p:cNvPr id="39" name="Text 31"/>
          <p:cNvSpPr/>
          <p:nvPr/>
        </p:nvSpPr>
        <p:spPr>
          <a:xfrm>
            <a:off x="8330184" y="5166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on peer-to-peer UPI settlements in-app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FINANCIAL PROJECTIONS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Path to ₹50Cr ARR by Year 3.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Conservative model based on 2-city pilot → national expansion.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371600"/>
            <a:ext cx="457200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0" y="1371600"/>
            <a:ext cx="54864" cy="9601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0" y="1444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₹80L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06640" y="1920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1 ARR · Pilot: Goa + Manali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23760" y="2450592"/>
            <a:ext cx="457200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23760" y="2450592"/>
            <a:ext cx="54864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25237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₹4.5Cr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06640" y="29992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2 ARR · 10 cities, 2,000 vendors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223760" y="3529584"/>
            <a:ext cx="457200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223760" y="3529584"/>
            <a:ext cx="54864" cy="96012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7406640" y="3602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₹18Cr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406640" y="4078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3 ARR · National, 10K vendors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23760" y="4608576"/>
            <a:ext cx="457200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23760" y="4608576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4681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72%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06640" y="5157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GM at Scale · SaaS + marketplace mix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23760" y="5687568"/>
            <a:ext cx="457200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223760" y="5687568"/>
            <a:ext cx="54864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1"/>
          <p:cNvSpPr/>
          <p:nvPr/>
        </p:nvSpPr>
        <p:spPr>
          <a:xfrm>
            <a:off x="7406640" y="5760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 months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406640" y="62362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Payback Period · Pro subscriber CAC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GO-TO-MARKET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City-by-city. Community-first. Vendor-anchored.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We don't launch globally. We launch so well in Goa that the internet talks about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3657600" cy="6400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" y="1737360"/>
            <a:ext cx="969264" cy="256032"/>
          </a:xfrm>
          <a:prstGeom prst="roundRect">
            <a:avLst>
              <a:gd name="adj" fmla="val 14286"/>
            </a:avLst>
          </a:prstGeom>
          <a:solidFill>
            <a:srgbClr val="1B4F8A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7373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Month 1–6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Pilot: Goa + Manali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74320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69748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Onboard 50 verified vendors per city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4564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4107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Recruit 200 travel content creators (micro-influencers 10K–100K)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16966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412394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Target college group travel: Diwali + NYE trips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882896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4837176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WhatsApp group referral viral loop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288536" y="1508760"/>
            <a:ext cx="365760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288536" y="1508760"/>
            <a:ext cx="36576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Shape 14"/>
          <p:cNvSpPr/>
          <p:nvPr/>
        </p:nvSpPr>
        <p:spPr>
          <a:xfrm>
            <a:off x="4453128" y="173736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21" name="Text 15"/>
          <p:cNvSpPr/>
          <p:nvPr/>
        </p:nvSpPr>
        <p:spPr>
          <a:xfrm>
            <a:off x="4453128" y="17373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Month 7–12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453128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Expand: 10 Cities</a:t>
            </a:r>
            <a:endParaRPr lang="en-US" sz="15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743200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00016" y="269748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Mumbai, Bangalore, Delhi, Jaipur, Udaipur, Rishikesh, Coorg, Ooty, Pondicherry, Hampi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3456432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00016" y="34107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Tourism board partnerships (state-level sponsored destinations)</a:t>
            </a:r>
            <a:endParaRPr lang="en-US" sz="10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4169664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700016" y="412394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Corporate travel desk pilots (team offsites)</a:t>
            </a:r>
            <a:endParaRPr lang="en-US" sz="10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488289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700016" y="4837176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Campus ambassador program: 500 colleges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8165592" y="1508760"/>
            <a:ext cx="365760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8165592" y="1508760"/>
            <a:ext cx="3657600" cy="6400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33" name="Shape 23"/>
          <p:cNvSpPr/>
          <p:nvPr/>
        </p:nvSpPr>
        <p:spPr>
          <a:xfrm>
            <a:off x="8330184" y="1737360"/>
            <a:ext cx="1133856" cy="256032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</p:sp>
      <p:sp>
        <p:nvSpPr>
          <p:cNvPr id="34" name="Text 24"/>
          <p:cNvSpPr/>
          <p:nvPr/>
        </p:nvSpPr>
        <p:spPr>
          <a:xfrm>
            <a:off x="8330184" y="17373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Month 13–24</a:t>
            </a:r>
            <a:endParaRPr lang="en-US" sz="850" dirty="0"/>
          </a:p>
        </p:txBody>
      </p:sp>
      <p:sp>
        <p:nvSpPr>
          <p:cNvPr id="35" name="Text 25"/>
          <p:cNvSpPr/>
          <p:nvPr/>
        </p:nvSpPr>
        <p:spPr>
          <a:xfrm>
            <a:off x="8330184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National Scale</a:t>
            </a:r>
            <a:endParaRPr lang="en-US" sz="15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0184" y="2743200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577072" y="269748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50+ cities. Pan-India vendor network</a:t>
            </a:r>
            <a:endParaRPr lang="en-US" sz="10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0184" y="3456432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577072" y="34107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International: Bali, Thailand, Dubai — South Asian diaspora</a:t>
            </a:r>
            <a:endParaRPr lang="en-US" sz="10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0184" y="4169664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577072" y="412394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API for travel agencies (B2B white-label)</a:t>
            </a:r>
            <a:endParaRPr lang="en-US" sz="10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0184" y="4882896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577072" y="4837176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Series B preparation with international expansion thesis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TECHNOLOGY &amp; MOAT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stack incumbents can't copy overnight.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557784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777240" cy="777240"/>
          </a:xfrm>
          <a:prstGeom prst="oval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37944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ML Feed Algorithm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2514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XGBoost ranking trained on travel-specific signals: trip content boost, location context, group proximity. Gets smarter with every trip taken.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57784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691640"/>
            <a:ext cx="777240" cy="777240"/>
          </a:xfrm>
          <a:prstGeom prst="oval">
            <a:avLst/>
          </a:prstGeom>
          <a:solidFill>
            <a:srgbClr val="1B4F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837944"/>
            <a:ext cx="466344" cy="4663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373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Geo-Commerce Engine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55080" y="2514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Real-time Redis GEORADIUS geofencing. Vendor triggers fire within 10 seconds of entering a zone. No other travel app has this.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3840480"/>
            <a:ext cx="557784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4023360"/>
            <a:ext cx="777240" cy="777240"/>
          </a:xfrm>
          <a:prstGeom prst="oval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69664"/>
            <a:ext cx="466344" cy="4663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Trip Graph 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94360" y="4846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Every trip creates a rich graph: user → trip → vendors → posts → locations. This behavioral dataset is the moat. Years to replicate.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577840" cy="205740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023360"/>
            <a:ext cx="777240" cy="777240"/>
          </a:xfrm>
          <a:prstGeom prst="oval">
            <a:avLst/>
          </a:prstGeom>
          <a:solidFill>
            <a:srgbClr val="F4A62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169664"/>
            <a:ext cx="466344" cy="4663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Dual-Post Architecture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55080" y="4846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</a:rPr>
              <a:t>A single post simultaneously lives on the creator's social profile AND the trip's immutable log. Novel IP — no one else does this.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6291072"/>
            <a:ext cx="12161520" cy="56692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336792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Tech stack: React Native (Expo) · Node.js · Go · MongoDB · PostgreSQL · Redis · Kafka · Elasticsearch · AWS EKS · XGBoost · Claude API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Built by people who've lived the problem.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We are travelers who got tired of switching apps mid-trip.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5577840" cy="2240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280160" cy="1280160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671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03120" y="17647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Founder &amp; CEO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2167128"/>
            <a:ext cx="1517904" cy="237744"/>
          </a:xfrm>
          <a:prstGeom prst="roundRect">
            <a:avLst>
              <a:gd name="adj" fmla="val 19231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1671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 &amp; Vision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253288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10 years product. Ex-Swiggy Growth, IIT Bombay. Led products used by 50M+ users.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577840" cy="2240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783080"/>
            <a:ext cx="1280160" cy="1280160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671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63840" y="17647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Co-Founder &amp; CTO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2167128"/>
            <a:ext cx="2295144" cy="237744"/>
          </a:xfrm>
          <a:prstGeom prst="roundRect">
            <a:avLst>
              <a:gd name="adj" fmla="val 19231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16712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Engineering &amp; Architecture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63840" y="253288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9 years engineering. Ex-Uber India infra. Built systems handling 2M req/min.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5577840" cy="2240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297680"/>
            <a:ext cx="1280160" cy="1280160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817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103120" y="42793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Head of Design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03120" y="4681728"/>
            <a:ext cx="1362456" cy="237744"/>
          </a:xfrm>
          <a:prstGeom prst="roundRect">
            <a:avLst>
              <a:gd name="adj" fmla="val 19231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468172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Design &amp; Brand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03120" y="504748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8 years UX. Ex-CRED Design Lead. Designed 3 apps with 10M+ downloads.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4023360"/>
            <a:ext cx="5577840" cy="2240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4297680"/>
            <a:ext cx="1280160" cy="1280160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6817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GG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863840" y="42793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Head of Growth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863840" y="4681728"/>
            <a:ext cx="1906524" cy="237744"/>
          </a:xfrm>
          <a:prstGeom prst="roundRect">
            <a:avLst>
              <a:gd name="adj" fmla="val 19231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4681728"/>
            <a:ext cx="1906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Growth &amp; Partnerships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863840" y="504748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6 years growth hacking. Ex-Zostel Marketing. Grew community from 0 to 2M.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5760720"/>
            <a:ext cx="11338560" cy="77724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</a:rPr>
              <a:t>ADVISORS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58978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Ex-Airbnb India Head  ·  Ex-IRCTC CTO  ·  Partner at Sequoia SEA  ·  Founding team, Cleartrip  ·  VP Engineering, PhonePe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PRODUCT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18 months to national scale.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MVP in 6 months. Revenue in 12. Series B metrics in 18.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0789920" cy="640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3017520"/>
            <a:ext cx="365760" cy="365760"/>
          </a:xfrm>
          <a:prstGeom prst="oval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M1–2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5508" y="2834640"/>
            <a:ext cx="9144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Shape 7"/>
          <p:cNvSpPr/>
          <p:nvPr/>
        </p:nvSpPr>
        <p:spPr>
          <a:xfrm>
            <a:off x="-274320" y="10972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-274320" y="1097280"/>
            <a:ext cx="192024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-13716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Foundation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" y="1645920"/>
            <a:ext cx="155448" cy="1554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" y="1609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Auth, profiles, feed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" y="1993392"/>
            <a:ext cx="155448" cy="1554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" y="1956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AWS + CI/CD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" y="2340864"/>
            <a:ext cx="155448" cy="155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React Native shell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670048" y="3017520"/>
            <a:ext cx="365760" cy="365760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19" name="Text 14"/>
          <p:cNvSpPr/>
          <p:nvPr/>
        </p:nvSpPr>
        <p:spPr>
          <a:xfrm>
            <a:off x="228600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F8A"/>
                </a:solidFill>
              </a:rPr>
              <a:t>M3–6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830068" y="3200400"/>
            <a:ext cx="9144" cy="64008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1" name="Shape 16"/>
          <p:cNvSpPr/>
          <p:nvPr/>
        </p:nvSpPr>
        <p:spPr>
          <a:xfrm>
            <a:off x="1920240" y="38404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920240" y="3840480"/>
            <a:ext cx="1920240" cy="54864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3" name="Text 18"/>
          <p:cNvSpPr/>
          <p:nvPr/>
        </p:nvSpPr>
        <p:spPr>
          <a:xfrm>
            <a:off x="20574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Social Layer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389120"/>
            <a:ext cx="155448" cy="1554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258568" y="4352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Reels, Stories</a:t>
            </a:r>
            <a:endParaRPr lang="en-US" sz="9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736592"/>
            <a:ext cx="155448" cy="1554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58568" y="4700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DM, notifications</a:t>
            </a:r>
            <a:endParaRPr lang="en-US" sz="9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084064"/>
            <a:ext cx="155448" cy="1554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258568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Media pipeline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5047488" y="3017520"/>
            <a:ext cx="365760" cy="36576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31" name="Text 23"/>
          <p:cNvSpPr/>
          <p:nvPr/>
        </p:nvSpPr>
        <p:spPr>
          <a:xfrm>
            <a:off x="466344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M7–11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207508" y="2834640"/>
            <a:ext cx="9144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Shape 25"/>
          <p:cNvSpPr/>
          <p:nvPr/>
        </p:nvSpPr>
        <p:spPr>
          <a:xfrm>
            <a:off x="4297680" y="10972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297680" y="1097280"/>
            <a:ext cx="19202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5" name="Text 27"/>
          <p:cNvSpPr/>
          <p:nvPr/>
        </p:nvSpPr>
        <p:spPr>
          <a:xfrm>
            <a:off x="443484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Journey Engine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1645920"/>
            <a:ext cx="155448" cy="1554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636008" y="1609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Trip Hub, Map</a:t>
            </a:r>
            <a:endParaRPr lang="en-US" sz="9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993392"/>
            <a:ext cx="155448" cy="1554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636008" y="1956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 Planner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2340864"/>
            <a:ext cx="155448" cy="15544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4636008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Offline mode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7424928" y="3017520"/>
            <a:ext cx="365760" cy="365760"/>
          </a:xfrm>
          <a:prstGeom prst="oval">
            <a:avLst/>
          </a:prstGeom>
          <a:solidFill>
            <a:srgbClr val="F4A623"/>
          </a:solidFill>
          <a:ln/>
        </p:spPr>
      </p:sp>
      <p:sp>
        <p:nvSpPr>
          <p:cNvPr id="43" name="Text 32"/>
          <p:cNvSpPr/>
          <p:nvPr/>
        </p:nvSpPr>
        <p:spPr>
          <a:xfrm>
            <a:off x="704088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623"/>
                </a:solidFill>
              </a:rPr>
              <a:t>M12–16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7584948" y="3200400"/>
            <a:ext cx="9144" cy="64008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45" name="Shape 34"/>
          <p:cNvSpPr/>
          <p:nvPr/>
        </p:nvSpPr>
        <p:spPr>
          <a:xfrm>
            <a:off x="6675120" y="38404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6675120" y="3840480"/>
            <a:ext cx="1920240" cy="54864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47" name="Text 36"/>
          <p:cNvSpPr/>
          <p:nvPr/>
        </p:nvSpPr>
        <p:spPr>
          <a:xfrm>
            <a:off x="681228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Marketplace</a:t>
            </a:r>
            <a:endParaRPr lang="en-US" sz="12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4389120"/>
            <a:ext cx="155448" cy="15544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013448" y="4352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Vendor portal</a:t>
            </a:r>
            <a:endParaRPr lang="en-US" sz="950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2280" y="4736592"/>
            <a:ext cx="155448" cy="15544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013448" y="4700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Bookings + payments</a:t>
            </a:r>
            <a:endParaRPr lang="en-US" sz="95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2280" y="5084064"/>
            <a:ext cx="155448" cy="15544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013448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Geo-triggers</a:t>
            </a:r>
            <a:endParaRPr lang="en-US" sz="950" dirty="0"/>
          </a:p>
        </p:txBody>
      </p:sp>
      <p:sp>
        <p:nvSpPr>
          <p:cNvPr id="54" name="Shape 40"/>
          <p:cNvSpPr/>
          <p:nvPr/>
        </p:nvSpPr>
        <p:spPr>
          <a:xfrm>
            <a:off x="9802368" y="3017520"/>
            <a:ext cx="365760" cy="36576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55" name="Text 41"/>
          <p:cNvSpPr/>
          <p:nvPr/>
        </p:nvSpPr>
        <p:spPr>
          <a:xfrm>
            <a:off x="941832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M17–24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9962388" y="2834640"/>
            <a:ext cx="914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Shape 43"/>
          <p:cNvSpPr/>
          <p:nvPr/>
        </p:nvSpPr>
        <p:spPr>
          <a:xfrm>
            <a:off x="9052560" y="10972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44"/>
          <p:cNvSpPr/>
          <p:nvPr/>
        </p:nvSpPr>
        <p:spPr>
          <a:xfrm>
            <a:off x="9052560" y="10972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45"/>
          <p:cNvSpPr/>
          <p:nvPr/>
        </p:nvSpPr>
        <p:spPr>
          <a:xfrm>
            <a:off x="918972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Scale</a:t>
            </a:r>
            <a:endParaRPr lang="en-US" sz="1200" dirty="0"/>
          </a:p>
        </p:txBody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89720" y="1645920"/>
            <a:ext cx="155448" cy="155448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9390888" y="1609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10 cities</a:t>
            </a:r>
            <a:endParaRPr lang="en-US" sz="95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9720" y="1993392"/>
            <a:ext cx="155448" cy="155448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9390888" y="1956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Series B prep</a:t>
            </a:r>
            <a:endParaRPr lang="en-US" sz="95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9720" y="2340864"/>
            <a:ext cx="155448" cy="155448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9390888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THE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B4CC"/>
                </a:solidFill>
              </a:rPr>
              <a:t>We are raising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₹12 Crore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Seed Round  ·  SAFE  ·  ₹120Cr Post-Money Cap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42316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480560" y="2423160"/>
            <a:ext cx="7315200" cy="9601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80560" y="2423160"/>
            <a:ext cx="54864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Shape 6"/>
          <p:cNvSpPr/>
          <p:nvPr/>
        </p:nvSpPr>
        <p:spPr>
          <a:xfrm>
            <a:off x="4553712" y="2587752"/>
            <a:ext cx="274320" cy="27432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4919472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55%  Product &amp; Engineering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0" y="2532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₹6.6Cr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19472" y="297180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14 engineers (BE/FE/Mobile/ML/DevOps). 18-month runway to Series A metrics.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80560" y="3502152"/>
            <a:ext cx="7315200" cy="9601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80560" y="3502152"/>
            <a:ext cx="54864" cy="9601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5" name="Shape 12"/>
          <p:cNvSpPr/>
          <p:nvPr/>
        </p:nvSpPr>
        <p:spPr>
          <a:xfrm>
            <a:off x="4553712" y="3666744"/>
            <a:ext cx="274320" cy="274320"/>
          </a:xfrm>
          <a:prstGeom prst="oval">
            <a:avLst/>
          </a:prstGeom>
          <a:solidFill>
            <a:srgbClr val="1B4F8A"/>
          </a:solidFill>
          <a:ln/>
        </p:spPr>
      </p:sp>
      <p:sp>
        <p:nvSpPr>
          <p:cNvPr id="16" name="Text 13"/>
          <p:cNvSpPr/>
          <p:nvPr/>
        </p:nvSpPr>
        <p:spPr>
          <a:xfrm>
            <a:off x="4919472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20%  Vendor Onboarding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4F8A"/>
                </a:solidFill>
              </a:rPr>
              <a:t>₹2.4Cr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19472" y="405079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Dedicated vendor acquisition team. Target 500 verified vendors in 2 cities by month 12.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480560" y="4581144"/>
            <a:ext cx="7315200" cy="9601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80560" y="4581144"/>
            <a:ext cx="54864" cy="96012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21" name="Shape 18"/>
          <p:cNvSpPr/>
          <p:nvPr/>
        </p:nvSpPr>
        <p:spPr>
          <a:xfrm>
            <a:off x="4553712" y="4745736"/>
            <a:ext cx="274320" cy="274320"/>
          </a:xfrm>
          <a:prstGeom prst="oval">
            <a:avLst/>
          </a:prstGeom>
          <a:solidFill>
            <a:srgbClr val="F4A623"/>
          </a:solidFill>
          <a:ln/>
        </p:spPr>
      </p:sp>
      <p:sp>
        <p:nvSpPr>
          <p:cNvPr id="22" name="Text 19"/>
          <p:cNvSpPr/>
          <p:nvPr/>
        </p:nvSpPr>
        <p:spPr>
          <a:xfrm>
            <a:off x="4919472" y="4690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15%  Growth &amp; Marketing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0" y="4690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₹1.8Cr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19472" y="512978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Creator partnerships, campus ambassador program, PR, app store optimization.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480560" y="5660136"/>
            <a:ext cx="7315200" cy="9601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80560" y="5660136"/>
            <a:ext cx="54864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4"/>
          <p:cNvSpPr/>
          <p:nvPr/>
        </p:nvSpPr>
        <p:spPr>
          <a:xfrm>
            <a:off x="4553712" y="5824728"/>
            <a:ext cx="274320" cy="27432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28" name="Text 25"/>
          <p:cNvSpPr/>
          <p:nvPr/>
        </p:nvSpPr>
        <p:spPr>
          <a:xfrm>
            <a:off x="4919472" y="57698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10%  Operations &amp; Legal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01200" y="5769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₹1.2Cr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919472" y="620877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KYC infrastructure, payment licenses, DPDP compliance, office setup.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896"/>
                </a:solidFill>
              </a:rPr>
              <a:t>SERIES A MILESTONE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18 months. 6 metrics. Series A ready.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These are the numbers that unlock a ₹80–120Cr Series 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36576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37360"/>
            <a:ext cx="640080" cy="640080"/>
          </a:xfrm>
          <a:prstGeom prst="oval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562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09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100K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Monthly Active Users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across Goa + Manali pilot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88536" y="1508760"/>
            <a:ext cx="365760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88536" y="1508760"/>
            <a:ext cx="3657600" cy="6400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737360"/>
            <a:ext cx="640080" cy="640080"/>
          </a:xfrm>
          <a:prstGeom prst="oval">
            <a:avLst/>
          </a:prstGeom>
          <a:solidFill>
            <a:srgbClr val="1B4F8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85623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94376" y="1709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10K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4471416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Trips Created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471416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with ≥3 collaborators each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65592" y="1508760"/>
            <a:ext cx="365760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65592" y="1508760"/>
            <a:ext cx="3657600" cy="64008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21" name="Shape 17"/>
          <p:cNvSpPr/>
          <p:nvPr/>
        </p:nvSpPr>
        <p:spPr>
          <a:xfrm>
            <a:off x="8348472" y="1737360"/>
            <a:ext cx="640080" cy="640080"/>
          </a:xfrm>
          <a:prstGeom prst="oval">
            <a:avLst/>
          </a:prstGeom>
          <a:solidFill>
            <a:srgbClr val="F4A62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5623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71432" y="1709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500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8348472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Verified Vendors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348472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KYC approved, active catalog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11480" y="3931920"/>
            <a:ext cx="365760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11480" y="3931920"/>
            <a:ext cx="36576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3"/>
          <p:cNvSpPr/>
          <p:nvPr/>
        </p:nvSpPr>
        <p:spPr>
          <a:xfrm>
            <a:off x="594360" y="4160520"/>
            <a:ext cx="640080" cy="640080"/>
          </a:xfrm>
          <a:prstGeom prst="oval">
            <a:avLst/>
          </a:prstGeom>
          <a:solidFill>
            <a:srgbClr val="10B98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79392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17320" y="41330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₹4.5Cr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594360" y="4937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ARR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94360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booking + SaaS + subscriptions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288536" y="3931920"/>
            <a:ext cx="365760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288536" y="3931920"/>
            <a:ext cx="36576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Shape 29"/>
          <p:cNvSpPr/>
          <p:nvPr/>
        </p:nvSpPr>
        <p:spPr>
          <a:xfrm>
            <a:off x="4471416" y="4160520"/>
            <a:ext cx="640080" cy="640080"/>
          </a:xfrm>
          <a:prstGeom prst="oval">
            <a:avLst/>
          </a:prstGeom>
          <a:solidFill>
            <a:srgbClr val="8B5CF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279392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94376" y="41330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40%</a:t>
            </a:r>
            <a:endParaRPr lang="en-US" sz="2800" dirty="0"/>
          </a:p>
        </p:txBody>
      </p:sp>
      <p:sp>
        <p:nvSpPr>
          <p:cNvPr id="38" name="Text 31"/>
          <p:cNvSpPr/>
          <p:nvPr/>
        </p:nvSpPr>
        <p:spPr>
          <a:xfrm>
            <a:off x="4471416" y="4937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D30 Retention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471416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benchmark: Instagram 45%, Swiggy 38%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165592" y="3931920"/>
            <a:ext cx="365760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165592" y="3931920"/>
            <a:ext cx="36576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Shape 35"/>
          <p:cNvSpPr/>
          <p:nvPr/>
        </p:nvSpPr>
        <p:spPr>
          <a:xfrm>
            <a:off x="8348472" y="4160520"/>
            <a:ext cx="640080" cy="640080"/>
          </a:xfrm>
          <a:prstGeom prst="oval">
            <a:avLst/>
          </a:prstGeom>
          <a:solidFill>
            <a:srgbClr val="F97316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279392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171432" y="41330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4.5★</a:t>
            </a:r>
            <a:endParaRPr lang="en-US" sz="2800" dirty="0"/>
          </a:p>
        </p:txBody>
      </p:sp>
      <p:sp>
        <p:nvSpPr>
          <p:cNvPr id="45" name="Text 37"/>
          <p:cNvSpPr/>
          <p:nvPr/>
        </p:nvSpPr>
        <p:spPr>
          <a:xfrm>
            <a:off x="8348472" y="4937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App Store Rating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8348472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minimum on both iOS + Android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71526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4572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B4CC"/>
                </a:solidFill>
              </a:rPr>
              <a:t>Travel is the one thing you buy that makes you richer — we're building the platform that makes it social, seamless, and 30% cheaper.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— Founding Team, Trip Party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0972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Let's build the future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of group travel.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0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We're raising ₹12 Crore Seed. Closing Q3 2025.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3337560"/>
            <a:ext cx="5394960" cy="530352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3447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</a:rPr>
              <a:t>EMAIL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invest@tripparty.in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995928"/>
            <a:ext cx="5394960" cy="530352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4105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</a:rPr>
              <a:t>DECK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0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tripparty.in/deck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4654296"/>
            <a:ext cx="5394960" cy="530352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4764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</a:rPr>
              <a:t>DEMO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4764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tripparty.in/demo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5312664"/>
            <a:ext cx="5394960" cy="530352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5422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</a:rPr>
              <a:t>LINKEDIN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0" y="5422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/company/tripparty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63550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0B4CC"/>
                </a:solidFill>
              </a:rPr>
              <a:t>TRIP PARTY  ·  CONFIDENTIAL  · 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 Party — Investor Deck</dc:title>
  <dc:subject>PptxGenJS Presentation</dc:subject>
  <dc:creator>PptxGenJS</dc:creator>
  <cp:lastModifiedBy>PptxGenJS</cp:lastModifiedBy>
  <cp:revision>1</cp:revision>
  <dcterms:created xsi:type="dcterms:W3CDTF">2026-05-15T14:40:35Z</dcterms:created>
  <dcterms:modified xsi:type="dcterms:W3CDTF">2026-05-15T14:40:35Z</dcterms:modified>
</cp:coreProperties>
</file>